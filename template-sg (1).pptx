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4" r:id="rId2"/>
    <p:sldId id="299" r:id="rId3"/>
    <p:sldId id="3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  <a:srgbClr val="FF0000"/>
    <a:srgbClr val="FFFF00"/>
    <a:srgbClr val="156082"/>
    <a:srgbClr val="00B050"/>
    <a:srgbClr val="92D050"/>
    <a:srgbClr val="00FF00"/>
    <a:srgbClr val="FFC000"/>
    <a:srgbClr val="971FE1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107" autoAdjust="0"/>
  </p:normalViewPr>
  <p:slideViewPr>
    <p:cSldViewPr snapToGrid="0">
      <p:cViewPr varScale="1">
        <p:scale>
          <a:sx n="77" d="100"/>
          <a:sy n="77" d="100"/>
        </p:scale>
        <p:origin x="10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4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5BAF9C-36F8-0D5F-0BCF-241F65DE8C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27C655-BAC1-0BCE-C41D-BA52B04E4B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ED550-C54B-415E-9DAD-F6854E952D0E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1444E2-D2A1-D327-EA8D-9DB1F697EB5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SATISH GUPTA &amp; YASH GUPTA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6C742D-68EB-7AD1-189D-929B5BA109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0E252-148D-45A3-BBF5-CA22F94EE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36102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07DFA-4781-4202-A810-5C965A8E0327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SATISH GUPTA &amp; YASH GUPTA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E88F9-EA16-463E-84C7-FDB777B48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5223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5FF0-C73B-F54E-8353-457A9443C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B4F30-4256-5DA0-65A5-B31FDF451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CB48F-1582-A967-E6C0-54B45CB6C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4911B-6A07-4418-BC97-32D5E2F31022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6E6FF-98B1-F9CE-4C1A-9823429E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D3C36-D447-475A-05BB-60218A1F2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67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3BF9E-A66A-CC8A-1603-F91B68E05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B3E6B-F5E7-9611-9325-6D659B88E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2D36-2ADA-8BA1-2987-10A2FAF56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8EFA9-E31A-416C-8EAB-7A5E5BF64B07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57553-E83D-0CEB-66D6-8DD68FF4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04085-95DA-9498-346B-0316D523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6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67C1-9C0F-1A1C-8382-2A99EA037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97D3F-BCA1-D189-A09F-C5A4D69A3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2C529-D678-A6CA-9BBC-64FA38441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720F-034B-42CF-BD50-903C91513188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F73BF-2649-D294-8E65-AF4E5547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6D88F-EECB-A629-8C88-802148E74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16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EA79-73F8-9246-CE71-FD44E73A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A36DD-4D9A-493A-F76A-966EF7B24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F6EBC-8551-BBA5-FC35-F21F2163D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3EFCB-71FC-02FF-F881-A959BBCF1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0145-BD50-404D-AC29-725D2B9A927D}" type="datetime1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D5820-19C4-6EE0-BBE1-E76C798E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ACA4A-2B68-5EC7-6423-2EB13CF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3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6E5C6-4C2F-E297-1BAD-9E4888B1A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0C758-E5BF-B51B-826D-D63FB57DA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15C3E-4741-8E63-AF03-31C3F8FFB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360301-494B-7B73-24A7-E6EA442B9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BC26AF-5275-1438-3C6C-F1BE52FB64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EA932-3004-B678-70CF-159A7381C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5A6E4-5426-4257-81A9-CB281A2F65DC}" type="datetime1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375C2-6471-8D56-7097-7AB5B5C5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4C620D-1784-D234-8661-C18BAAF32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0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49F46-B590-EF04-D4A1-BA4F75764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9C9464-1E0B-35B1-EE7F-84926646E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6964-3444-4438-B3AC-11A292771DE2}" type="datetime1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ED25C9-B4D4-C6F5-08E1-D64FFBBE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41189A-6046-AA9B-49DC-30AC762F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96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D4E8D9-C425-EDC2-D944-E912F20FC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1C98-5AB0-4646-9B0C-0FDEBB164900}" type="datetime1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ABC70-7BBC-DDFF-4A59-DC90EA2F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BBAAE-6E03-F51E-DD96-239FF937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25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36AB4-C8A9-6A3C-81CC-A71ACA7E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BF606-DF6F-BB6D-83B9-3EF52D49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ED96E-B5CC-94AF-04D3-4C2A4641E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44E2A-CB88-C60E-1D75-20B81F8A6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1EA10-6167-497F-9278-672BB51FE7CF}" type="datetime1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31880-0F52-5668-86A3-7BAD0A606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6ACD0-3C65-83B6-9155-973C54F1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77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6205-F0CF-E5ED-C328-0D8A5685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38F8A2-1B71-E90A-804F-C7AD041044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DC4B9-D828-FE03-F469-1D2FD17DD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1C266-75E1-6535-53B2-71B429F20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BA59-A0E0-44E6-BD71-E48F4AA4632B}" type="datetime1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9B85B-EE08-6F70-DFCC-04927E782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03108-6792-18B6-5D23-B23536AC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77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78538-418A-7EBF-07C4-1699A399B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851ED-01B9-2898-1DC9-5A174BF61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33EE5-4F94-B08D-5228-1A4DEEDC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DCD8C-8169-44D0-838C-A869EB44F202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35466-83BA-3866-6096-B21994E95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CBAA7-7A5E-AC09-F417-ADCD75B9E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41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BC71EF-0B7A-D0E3-42D0-8CC150D7BF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54198-1EFE-2DD2-9A3F-3F85219B4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AA050-0A74-13EF-3A30-0FBAACA0A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31B56-7D14-4F60-A7F3-7EDCFCD21D19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3D5BE-C7AD-D6B0-848F-87E20C718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D9A13-AC33-4E41-BE93-5729B635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0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867AA0-EA4D-2CBC-A87C-9F0B35CC4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69DDC-28EC-1602-97A2-CE62251E2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4CDD4-5871-E6F2-99B5-B42415508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CB9B1-2B40-4B2D-83D1-21671AC69BAC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D6389-E4E8-D028-FA16-F71BEA84AA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2A0F2-1931-D815-7CAD-A47571CEA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C70DC-9214-4944-9F8A-C850AD0F3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47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27266-2A11-7A62-5151-C97601DC4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1917"/>
            <a:ext cx="4114800" cy="365125"/>
          </a:xfrm>
        </p:spPr>
        <p:txBody>
          <a:bodyPr/>
          <a:lstStyle/>
          <a:p>
            <a:r>
              <a:rPr lang="en-US" u="sng" dirty="0">
                <a:solidFill>
                  <a:schemeClr val="tx1"/>
                </a:solidFill>
                <a:latin typeface="Artifakt Element Hair" panose="020B0203050000020004" pitchFamily="34" charset="0"/>
                <a:ea typeface="Artifakt Element Hair" panose="020B0203050000020004" pitchFamily="34" charset="0"/>
                <a:cs typeface="Arial" pitchFamily="34" charset="0"/>
              </a:rPr>
              <a:t>SATISH GUPTA &amp; YASH GUPTA</a:t>
            </a:r>
          </a:p>
          <a:p>
            <a:r>
              <a:rPr lang="en-US" u="sng" dirty="0">
                <a:solidFill>
                  <a:schemeClr val="tx1"/>
                </a:solidFill>
                <a:latin typeface="Artifakt Element Hair" panose="020B0203050000020004" pitchFamily="34" charset="0"/>
                <a:ea typeface="Artifakt Element Hair" panose="020B0203050000020004" pitchFamily="34" charset="0"/>
                <a:cs typeface="Arial" pitchFamily="34" charset="0"/>
              </a:rPr>
              <a:t> (VASTU CONSULTANTS)</a:t>
            </a:r>
          </a:p>
          <a:p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E69D90-9C4A-D884-3556-A21AEDA0A13E}"/>
              </a:ext>
            </a:extLst>
          </p:cNvPr>
          <p:cNvCxnSpPr>
            <a:cxnSpLocks/>
          </p:cNvCxnSpPr>
          <p:nvPr/>
        </p:nvCxnSpPr>
        <p:spPr>
          <a:xfrm>
            <a:off x="3581986" y="1582993"/>
            <a:ext cx="53880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BF58A5-D35F-4794-DF85-B9AF1BAE735D}"/>
              </a:ext>
            </a:extLst>
          </p:cNvPr>
          <p:cNvSpPr txBox="1"/>
          <p:nvPr/>
        </p:nvSpPr>
        <p:spPr>
          <a:xfrm>
            <a:off x="3365850" y="817565"/>
            <a:ext cx="56858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dirty="0"/>
              <a:t>SIGNATURE GLOBAL</a:t>
            </a:r>
            <a:endParaRPr lang="en-US" sz="48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9E0AE0-F601-0B28-9F48-068A017B8D3B}"/>
              </a:ext>
            </a:extLst>
          </p:cNvPr>
          <p:cNvSpPr txBox="1"/>
          <p:nvPr/>
        </p:nvSpPr>
        <p:spPr>
          <a:xfrm>
            <a:off x="2761110" y="1582993"/>
            <a:ext cx="71995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RESIDENTIAL COMMUNITY 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SECTOR-37D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EC35D2-F86E-A90E-9F40-861B6D509EA9}"/>
              </a:ext>
            </a:extLst>
          </p:cNvPr>
          <p:cNvSpPr txBox="1"/>
          <p:nvPr/>
        </p:nvSpPr>
        <p:spPr>
          <a:xfrm>
            <a:off x="1909970" y="3975987"/>
            <a:ext cx="83720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accent2">
                    <a:lumMod val="50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VASTU STRATEGIC ANALYSIS-01</a:t>
            </a:r>
            <a:endParaRPr lang="en-US" sz="4000" dirty="0">
              <a:solidFill>
                <a:schemeClr val="accent2">
                  <a:lumMod val="50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42ABB7-22CA-A92E-C597-577EECD5D7C3}"/>
              </a:ext>
            </a:extLst>
          </p:cNvPr>
          <p:cNvSpPr txBox="1"/>
          <p:nvPr/>
        </p:nvSpPr>
        <p:spPr>
          <a:xfrm>
            <a:off x="3451123" y="4683873"/>
            <a:ext cx="5240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Recommendation on-04</a:t>
            </a:r>
            <a:r>
              <a:rPr lang="en-US" baseline="30000" dirty="0">
                <a:solidFill>
                  <a:schemeClr val="accent2">
                    <a:lumMod val="50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th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April, 2026 </a:t>
            </a:r>
          </a:p>
        </p:txBody>
      </p:sp>
    </p:spTree>
    <p:extLst>
      <p:ext uri="{BB962C8B-B14F-4D97-AF65-F5344CB8AC3E}">
        <p14:creationId xmlns:p14="http://schemas.microsoft.com/office/powerpoint/2010/main" val="2878472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3376B-12BE-5FC5-69C7-4643C7531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CB2719C-1495-7879-A800-9557C209167B}"/>
              </a:ext>
            </a:extLst>
          </p:cNvPr>
          <p:cNvGrpSpPr/>
          <p:nvPr/>
        </p:nvGrpSpPr>
        <p:grpSpPr>
          <a:xfrm>
            <a:off x="274119" y="426940"/>
            <a:ext cx="4958281" cy="523220"/>
            <a:chOff x="443436" y="420976"/>
            <a:chExt cx="4405249" cy="52322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4688F5-A876-A5E0-C92C-BC009A3A1E73}"/>
                </a:ext>
              </a:extLst>
            </p:cNvPr>
            <p:cNvSpPr txBox="1"/>
            <p:nvPr/>
          </p:nvSpPr>
          <p:spPr>
            <a:xfrm>
              <a:off x="443436" y="420976"/>
              <a:ext cx="440524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solidFill>
                    <a:srgbClr val="1E3750"/>
                  </a:solidFill>
                </a:rPr>
                <a:t>NORTH </a:t>
              </a:r>
              <a:r>
                <a:rPr lang="en-IN" sz="2800" dirty="0">
                  <a:solidFill>
                    <a:srgbClr val="1E3750"/>
                  </a:solidFill>
                </a:rPr>
                <a:t>ALIGNMENT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20F4D57-A265-2A3A-99D7-C68386A0FE8E}"/>
                </a:ext>
              </a:extLst>
            </p:cNvPr>
            <p:cNvCxnSpPr>
              <a:cxnSpLocks/>
            </p:cNvCxnSpPr>
            <p:nvPr/>
          </p:nvCxnSpPr>
          <p:spPr>
            <a:xfrm>
              <a:off x="562155" y="939276"/>
              <a:ext cx="1371600" cy="0"/>
            </a:xfrm>
            <a:prstGeom prst="line">
              <a:avLst/>
            </a:prstGeom>
            <a:ln w="57150">
              <a:solidFill>
                <a:srgbClr val="F47D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D1898BD-D8D5-1941-3BE0-B031B38D9C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39" y="1911134"/>
            <a:ext cx="5358175" cy="3202444"/>
          </a:xfrm>
          <a:prstGeom prst="rect">
            <a:avLst/>
          </a:prstGeom>
        </p:spPr>
      </p:pic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CDD6E901-5967-BC7E-96CA-BA36998AB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7714" y="0"/>
            <a:ext cx="682743" cy="365125"/>
          </a:xfrm>
        </p:spPr>
        <p:txBody>
          <a:bodyPr/>
          <a:lstStyle/>
          <a:p>
            <a:pPr algn="ctr"/>
            <a:fld id="{B33E2CC4-F11D-4E54-86EA-E05F33837D9B}" type="slidenum">
              <a:rPr lang="en-US" smtClean="0"/>
              <a:pPr algn="ctr"/>
              <a:t>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074430-D38A-E76D-59A6-42BC195CA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21" y="6131431"/>
            <a:ext cx="944338" cy="63642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64BC49B-1D60-95F3-4019-28D74D2C3E7D}"/>
              </a:ext>
            </a:extLst>
          </p:cNvPr>
          <p:cNvCxnSpPr/>
          <p:nvPr/>
        </p:nvCxnSpPr>
        <p:spPr>
          <a:xfrm>
            <a:off x="-9832" y="6076331"/>
            <a:ext cx="12204000" cy="0"/>
          </a:xfrm>
          <a:prstGeom prst="line">
            <a:avLst/>
          </a:prstGeom>
          <a:ln w="28575">
            <a:solidFill>
              <a:srgbClr val="F47D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D434489F-7503-29B2-6F7A-E55BAA8A7B4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939" y="1758734"/>
            <a:ext cx="5358175" cy="32024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765469-313A-531A-9424-EE898BED829D}"/>
              </a:ext>
            </a:extLst>
          </p:cNvPr>
          <p:cNvSpPr txBox="1"/>
          <p:nvPr/>
        </p:nvSpPr>
        <p:spPr>
          <a:xfrm>
            <a:off x="4793168" y="6205556"/>
            <a:ext cx="26577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lang="en-US" sz="1400" dirty="0"/>
              <a:t>SATISH GUPTA &amp; YASH GUPTA</a:t>
            </a:r>
          </a:p>
          <a:p>
            <a:pPr algn="ctr">
              <a:defRPr sz="1600"/>
            </a:pPr>
            <a:r>
              <a:rPr lang="en-US" sz="1400" dirty="0"/>
              <a:t>(VASTU CONSULTANTS)</a:t>
            </a:r>
            <a:endParaRPr sz="1400" dirty="0"/>
          </a:p>
        </p:txBody>
      </p:sp>
      <p:grpSp>
        <p:nvGrpSpPr>
          <p:cNvPr id="13" name="Group 6">
            <a:extLst>
              <a:ext uri="{FF2B5EF4-FFF2-40B4-BE49-F238E27FC236}">
                <a16:creationId xmlns:a16="http://schemas.microsoft.com/office/drawing/2014/main" id="{507EE374-F60C-73BA-266C-02EDD58680D5}"/>
              </a:ext>
            </a:extLst>
          </p:cNvPr>
          <p:cNvGrpSpPr/>
          <p:nvPr/>
        </p:nvGrpSpPr>
        <p:grpSpPr>
          <a:xfrm>
            <a:off x="10612569" y="6223739"/>
            <a:ext cx="1235868" cy="451808"/>
            <a:chOff x="0" y="0"/>
            <a:chExt cx="1557782" cy="465569"/>
          </a:xfrm>
        </p:grpSpPr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37FC9138-4EF8-F6B7-CF8C-566AECF79478}"/>
                </a:ext>
              </a:extLst>
            </p:cNvPr>
            <p:cNvSpPr/>
            <p:nvPr/>
          </p:nvSpPr>
          <p:spPr>
            <a:xfrm>
              <a:off x="0" y="0"/>
              <a:ext cx="1557782" cy="465582"/>
            </a:xfrm>
            <a:custGeom>
              <a:avLst/>
              <a:gdLst/>
              <a:ahLst/>
              <a:cxnLst/>
              <a:rect l="l" t="t" r="r" b="b"/>
              <a:pathLst>
                <a:path w="1557782" h="465582">
                  <a:moveTo>
                    <a:pt x="0" y="0"/>
                  </a:moveTo>
                  <a:lnTo>
                    <a:pt x="1557782" y="0"/>
                  </a:lnTo>
                  <a:lnTo>
                    <a:pt x="1557782" y="465582"/>
                  </a:lnTo>
                  <a:lnTo>
                    <a:pt x="0" y="465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8C384D4-75EC-0E58-809C-94A714F9D7BF}"/>
              </a:ext>
            </a:extLst>
          </p:cNvPr>
          <p:cNvGrpSpPr/>
          <p:nvPr/>
        </p:nvGrpSpPr>
        <p:grpSpPr>
          <a:xfrm>
            <a:off x="11151565" y="5269978"/>
            <a:ext cx="719720" cy="715363"/>
            <a:chOff x="11114703" y="5215590"/>
            <a:chExt cx="719720" cy="715363"/>
          </a:xfrm>
        </p:grpSpPr>
        <p:pic>
          <p:nvPicPr>
            <p:cNvPr id="18" name="Picture 17" descr="Christmas Photo Instagram Pos torange.png">
              <a:extLst>
                <a:ext uri="{FF2B5EF4-FFF2-40B4-BE49-F238E27FC236}">
                  <a16:creationId xmlns:a16="http://schemas.microsoft.com/office/drawing/2014/main" id="{D9BB3CE7-07E0-7C50-1383-B2D34FC80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 l="14099" t="13873" r="10308" b="10073"/>
            <a:stretch>
              <a:fillRect/>
            </a:stretch>
          </p:blipFill>
          <p:spPr>
            <a:xfrm rot="18873895">
              <a:off x="11116881" y="5213412"/>
              <a:ext cx="715363" cy="719720"/>
            </a:xfrm>
            <a:prstGeom prst="rect">
              <a:avLst/>
            </a:prstGeom>
          </p:spPr>
        </p:pic>
        <p:pic>
          <p:nvPicPr>
            <p:cNvPr id="19" name="Picture 18" descr="Christmas Photo Instagram Pos torange.png">
              <a:extLst>
                <a:ext uri="{FF2B5EF4-FFF2-40B4-BE49-F238E27FC236}">
                  <a16:creationId xmlns:a16="http://schemas.microsoft.com/office/drawing/2014/main" id="{B6E455CC-F7BF-4A33-738B-BD1BF497E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 l="45710" t="88642" r="42915" b="-18"/>
            <a:stretch>
              <a:fillRect/>
            </a:stretch>
          </p:blipFill>
          <p:spPr>
            <a:xfrm>
              <a:off x="11669595" y="5806355"/>
              <a:ext cx="107645" cy="107647"/>
            </a:xfrm>
            <a:prstGeom prst="rect">
              <a:avLst/>
            </a:prstGeom>
          </p:spPr>
        </p:pic>
        <p:pic>
          <p:nvPicPr>
            <p:cNvPr id="20" name="Picture 19" descr="Christmas Photo Instagram Pos torange.png">
              <a:extLst>
                <a:ext uri="{FF2B5EF4-FFF2-40B4-BE49-F238E27FC236}">
                  <a16:creationId xmlns:a16="http://schemas.microsoft.com/office/drawing/2014/main" id="{FD71738C-CEB2-5C48-0217-BA6EBF888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 l="46143" t="3010" r="41902" b="85836"/>
            <a:stretch>
              <a:fillRect/>
            </a:stretch>
          </p:blipFill>
          <p:spPr>
            <a:xfrm>
              <a:off x="11141243" y="5233369"/>
              <a:ext cx="113142" cy="105547"/>
            </a:xfrm>
            <a:prstGeom prst="rect">
              <a:avLst/>
            </a:prstGeom>
          </p:spPr>
        </p:pic>
        <p:pic>
          <p:nvPicPr>
            <p:cNvPr id="21" name="Picture 20" descr="Christmas Photo Instagram Pos torange.png">
              <a:extLst>
                <a:ext uri="{FF2B5EF4-FFF2-40B4-BE49-F238E27FC236}">
                  <a16:creationId xmlns:a16="http://schemas.microsoft.com/office/drawing/2014/main" id="{ED68DEA0-8849-9123-B59A-25D1954B8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 l="90073" t="46555" r="827" b="43207"/>
            <a:stretch>
              <a:fillRect/>
            </a:stretch>
          </p:blipFill>
          <p:spPr>
            <a:xfrm>
              <a:off x="11680360" y="5241889"/>
              <a:ext cx="86117" cy="96882"/>
            </a:xfrm>
            <a:prstGeom prst="rect">
              <a:avLst/>
            </a:prstGeom>
          </p:spPr>
        </p:pic>
        <p:pic>
          <p:nvPicPr>
            <p:cNvPr id="22" name="Picture 21" descr="Christmas Photo Instagram Pos torange.png">
              <a:extLst>
                <a:ext uri="{FF2B5EF4-FFF2-40B4-BE49-F238E27FC236}">
                  <a16:creationId xmlns:a16="http://schemas.microsoft.com/office/drawing/2014/main" id="{7B163772-B760-0B5E-AC39-C90B3CA30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 l="1917" t="44849" r="85482" b="42794"/>
            <a:stretch>
              <a:fillRect/>
            </a:stretch>
          </p:blipFill>
          <p:spPr>
            <a:xfrm>
              <a:off x="11133317" y="5797061"/>
              <a:ext cx="119245" cy="11694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9EC789E-4C0B-C068-E842-227609C82D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65"/>
          <a:stretch>
            <a:fillRect/>
          </a:stretch>
        </p:blipFill>
        <p:spPr>
          <a:xfrm>
            <a:off x="2531963" y="1281127"/>
            <a:ext cx="7120410" cy="4157657"/>
          </a:xfrm>
          <a:prstGeom prst="rect">
            <a:avLst/>
          </a:prstGeom>
          <a:ln w="762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89735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7DF45-DFCD-30B8-C9A5-005B1B63B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340902B9-B69D-FCF2-64FF-96EA04A4F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7714" y="0"/>
            <a:ext cx="682743" cy="365125"/>
          </a:xfrm>
        </p:spPr>
        <p:txBody>
          <a:bodyPr/>
          <a:lstStyle/>
          <a:p>
            <a:pPr algn="ctr"/>
            <a:fld id="{B33E2CC4-F11D-4E54-86EA-E05F33837D9B}" type="slidenum">
              <a:rPr lang="en-US" smtClean="0"/>
              <a:pPr algn="ctr"/>
              <a:t>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8FE8B2-F7D1-5654-ECEB-774F9CDB6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21" y="6131431"/>
            <a:ext cx="944338" cy="63642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EA9145-0FF7-ACE1-91CC-84B46C4228F7}"/>
              </a:ext>
            </a:extLst>
          </p:cNvPr>
          <p:cNvCxnSpPr/>
          <p:nvPr/>
        </p:nvCxnSpPr>
        <p:spPr>
          <a:xfrm>
            <a:off x="-9832" y="6076331"/>
            <a:ext cx="12204000" cy="0"/>
          </a:xfrm>
          <a:prstGeom prst="line">
            <a:avLst/>
          </a:prstGeom>
          <a:ln w="28575">
            <a:solidFill>
              <a:srgbClr val="F47D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2289E405-7B3C-8B6E-4C53-4133B6C3B4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939" y="1758734"/>
            <a:ext cx="5358175" cy="32024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2905AFC-5890-6E98-F29F-CD9819C33EBA}"/>
              </a:ext>
            </a:extLst>
          </p:cNvPr>
          <p:cNvSpPr txBox="1"/>
          <p:nvPr/>
        </p:nvSpPr>
        <p:spPr>
          <a:xfrm>
            <a:off x="464479" y="365125"/>
            <a:ext cx="4778573" cy="4801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altLang="en-US" sz="1600" b="1" u="sng" dirty="0">
                <a:solidFill>
                  <a:srgbClr val="E971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 ORIENTATION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plot is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North-East facing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which is considered highly favorable as per Vastu principles.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plot has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diagonal orientation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aligning it with the ordinal directions. 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600" b="1" dirty="0"/>
              <a:t>Water feature </a:t>
            </a:r>
            <a:r>
              <a:rPr lang="en-US" sz="1600" dirty="0"/>
              <a:t>in the </a:t>
            </a:r>
            <a:r>
              <a:rPr lang="en-US" sz="1600" b="1" dirty="0"/>
              <a:t>north zone </a:t>
            </a:r>
            <a:r>
              <a:rPr lang="en-US" sz="1600" dirty="0"/>
              <a:t>is suitable and beneficial according to Vastu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Additionally, a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24-meter-wide road in the North-East zone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further strengthens the Vastu compliance of the property and supports positive energy flow.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E4454A-B142-D662-6723-0C5BB1170E8E}"/>
              </a:ext>
            </a:extLst>
          </p:cNvPr>
          <p:cNvSpPr txBox="1"/>
          <p:nvPr/>
        </p:nvSpPr>
        <p:spPr>
          <a:xfrm>
            <a:off x="4793168" y="6205556"/>
            <a:ext cx="26577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lang="en-US" sz="1400" dirty="0"/>
              <a:t>SATISH GUPTA &amp; YASH GUPTA</a:t>
            </a:r>
          </a:p>
          <a:p>
            <a:pPr algn="ctr">
              <a:defRPr sz="1600"/>
            </a:pPr>
            <a:r>
              <a:rPr lang="en-US" sz="1400" dirty="0"/>
              <a:t>(VASTU CONSULTANTS)</a:t>
            </a:r>
            <a:endParaRPr sz="1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433FA96-5929-7D62-0DCF-3C59DE99DD3E}"/>
              </a:ext>
            </a:extLst>
          </p:cNvPr>
          <p:cNvGrpSpPr/>
          <p:nvPr/>
        </p:nvGrpSpPr>
        <p:grpSpPr>
          <a:xfrm>
            <a:off x="10612569" y="6223739"/>
            <a:ext cx="1235868" cy="451808"/>
            <a:chOff x="0" y="0"/>
            <a:chExt cx="1557782" cy="465569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10EE937-5590-0856-8D81-98393539FFE0}"/>
                </a:ext>
              </a:extLst>
            </p:cNvPr>
            <p:cNvSpPr/>
            <p:nvPr/>
          </p:nvSpPr>
          <p:spPr>
            <a:xfrm>
              <a:off x="0" y="0"/>
              <a:ext cx="1557782" cy="465582"/>
            </a:xfrm>
            <a:custGeom>
              <a:avLst/>
              <a:gdLst/>
              <a:ahLst/>
              <a:cxnLst/>
              <a:rect l="l" t="t" r="r" b="b"/>
              <a:pathLst>
                <a:path w="1557782" h="465582">
                  <a:moveTo>
                    <a:pt x="0" y="0"/>
                  </a:moveTo>
                  <a:lnTo>
                    <a:pt x="1557782" y="0"/>
                  </a:lnTo>
                  <a:lnTo>
                    <a:pt x="1557782" y="465582"/>
                  </a:lnTo>
                  <a:lnTo>
                    <a:pt x="0" y="465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2DD5027-5FCC-5C1C-F660-B439B73485F8}"/>
              </a:ext>
            </a:extLst>
          </p:cNvPr>
          <p:cNvGrpSpPr/>
          <p:nvPr/>
        </p:nvGrpSpPr>
        <p:grpSpPr>
          <a:xfrm>
            <a:off x="11151565" y="5269978"/>
            <a:ext cx="719720" cy="715363"/>
            <a:chOff x="11114703" y="5215590"/>
            <a:chExt cx="719720" cy="715363"/>
          </a:xfrm>
        </p:grpSpPr>
        <p:pic>
          <p:nvPicPr>
            <p:cNvPr id="11" name="Picture 10" descr="Christmas Photo Instagram Pos torange.png">
              <a:extLst>
                <a:ext uri="{FF2B5EF4-FFF2-40B4-BE49-F238E27FC236}">
                  <a16:creationId xmlns:a16="http://schemas.microsoft.com/office/drawing/2014/main" id="{8A465FAB-EC3E-3045-E6BD-050D4F35E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 l="14099" t="13873" r="10308" b="10073"/>
            <a:stretch>
              <a:fillRect/>
            </a:stretch>
          </p:blipFill>
          <p:spPr>
            <a:xfrm rot="18873895">
              <a:off x="11116881" y="5213412"/>
              <a:ext cx="715363" cy="719720"/>
            </a:xfrm>
            <a:prstGeom prst="rect">
              <a:avLst/>
            </a:prstGeom>
          </p:spPr>
        </p:pic>
        <p:pic>
          <p:nvPicPr>
            <p:cNvPr id="12" name="Picture 11" descr="Christmas Photo Instagram Pos torange.png">
              <a:extLst>
                <a:ext uri="{FF2B5EF4-FFF2-40B4-BE49-F238E27FC236}">
                  <a16:creationId xmlns:a16="http://schemas.microsoft.com/office/drawing/2014/main" id="{86545F63-F78B-FAA8-5A52-954B718F1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 l="45710" t="88642" r="42915" b="-18"/>
            <a:stretch>
              <a:fillRect/>
            </a:stretch>
          </p:blipFill>
          <p:spPr>
            <a:xfrm>
              <a:off x="11669595" y="5806355"/>
              <a:ext cx="107645" cy="107647"/>
            </a:xfrm>
            <a:prstGeom prst="rect">
              <a:avLst/>
            </a:prstGeom>
          </p:spPr>
        </p:pic>
        <p:pic>
          <p:nvPicPr>
            <p:cNvPr id="13" name="Picture 12" descr="Christmas Photo Instagram Pos torange.png">
              <a:extLst>
                <a:ext uri="{FF2B5EF4-FFF2-40B4-BE49-F238E27FC236}">
                  <a16:creationId xmlns:a16="http://schemas.microsoft.com/office/drawing/2014/main" id="{8523512E-7FEB-03BE-6805-0D5189E08F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 l="46143" t="3010" r="41902" b="85836"/>
            <a:stretch>
              <a:fillRect/>
            </a:stretch>
          </p:blipFill>
          <p:spPr>
            <a:xfrm>
              <a:off x="11141243" y="5233369"/>
              <a:ext cx="113142" cy="105547"/>
            </a:xfrm>
            <a:prstGeom prst="rect">
              <a:avLst/>
            </a:prstGeom>
          </p:spPr>
        </p:pic>
        <p:pic>
          <p:nvPicPr>
            <p:cNvPr id="15" name="Picture 14" descr="Christmas Photo Instagram Pos torange.png">
              <a:extLst>
                <a:ext uri="{FF2B5EF4-FFF2-40B4-BE49-F238E27FC236}">
                  <a16:creationId xmlns:a16="http://schemas.microsoft.com/office/drawing/2014/main" id="{914EFBFD-3422-E1C3-F0BC-218696B05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 l="90073" t="46555" r="827" b="43207"/>
            <a:stretch>
              <a:fillRect/>
            </a:stretch>
          </p:blipFill>
          <p:spPr>
            <a:xfrm>
              <a:off x="11680360" y="5241889"/>
              <a:ext cx="86117" cy="96882"/>
            </a:xfrm>
            <a:prstGeom prst="rect">
              <a:avLst/>
            </a:prstGeom>
          </p:spPr>
        </p:pic>
        <p:pic>
          <p:nvPicPr>
            <p:cNvPr id="16" name="Picture 15" descr="Christmas Photo Instagram Pos torange.png">
              <a:extLst>
                <a:ext uri="{FF2B5EF4-FFF2-40B4-BE49-F238E27FC236}">
                  <a16:creationId xmlns:a16="http://schemas.microsoft.com/office/drawing/2014/main" id="{AD4F87ED-BB5F-63CF-C3CC-17B5BA6B9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 l="1917" t="44849" r="85482" b="42794"/>
            <a:stretch>
              <a:fillRect/>
            </a:stretch>
          </p:blipFill>
          <p:spPr>
            <a:xfrm>
              <a:off x="11133317" y="5797061"/>
              <a:ext cx="119245" cy="116941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75ADBE4-B291-2DE5-3715-9CEE6A2895C6}"/>
              </a:ext>
            </a:extLst>
          </p:cNvPr>
          <p:cNvSpPr txBox="1"/>
          <p:nvPr/>
        </p:nvSpPr>
        <p:spPr>
          <a:xfrm>
            <a:off x="8019843" y="1637254"/>
            <a:ext cx="4334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A51AA0-810C-489D-861D-50854EEA7628}"/>
              </a:ext>
            </a:extLst>
          </p:cNvPr>
          <p:cNvSpPr txBox="1"/>
          <p:nvPr/>
        </p:nvSpPr>
        <p:spPr>
          <a:xfrm>
            <a:off x="9238151" y="1637254"/>
            <a:ext cx="4334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0793B9-A974-C8CF-316F-F0A8359E8B85}"/>
              </a:ext>
            </a:extLst>
          </p:cNvPr>
          <p:cNvSpPr txBox="1"/>
          <p:nvPr/>
        </p:nvSpPr>
        <p:spPr>
          <a:xfrm>
            <a:off x="9359064" y="3953734"/>
            <a:ext cx="4334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0CDAB2-DE1F-4BFD-A2CC-0E7FFA0C9FE8}"/>
              </a:ext>
            </a:extLst>
          </p:cNvPr>
          <p:cNvSpPr txBox="1"/>
          <p:nvPr/>
        </p:nvSpPr>
        <p:spPr>
          <a:xfrm>
            <a:off x="7793187" y="3919208"/>
            <a:ext cx="4334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0EE93D-1652-C2A1-A5AA-EDF4C8493A1C}"/>
              </a:ext>
            </a:extLst>
          </p:cNvPr>
          <p:cNvSpPr txBox="1"/>
          <p:nvPr/>
        </p:nvSpPr>
        <p:spPr>
          <a:xfrm>
            <a:off x="7477557" y="1237144"/>
            <a:ext cx="1518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CANAL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DF2FF3-EA2F-754C-9EA7-A9417E3011BF}"/>
              </a:ext>
            </a:extLst>
          </p:cNvPr>
          <p:cNvSpPr txBox="1"/>
          <p:nvPr/>
        </p:nvSpPr>
        <p:spPr>
          <a:xfrm rot="21125945">
            <a:off x="9160135" y="1080738"/>
            <a:ext cx="1518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CANAL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A592DB-0F99-622B-C075-A5AD83559FF9}"/>
              </a:ext>
            </a:extLst>
          </p:cNvPr>
          <p:cNvSpPr txBox="1"/>
          <p:nvPr/>
        </p:nvSpPr>
        <p:spPr>
          <a:xfrm>
            <a:off x="8119963" y="1560419"/>
            <a:ext cx="15180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24M WIDE ROAD</a:t>
            </a:r>
            <a:endParaRPr lang="en-IN" sz="1050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676017-A857-101A-3D21-450D364BCA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475" y="795574"/>
            <a:ext cx="1121296" cy="14950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F71A031-4A57-2B53-D238-06889F3BCC52}"/>
              </a:ext>
            </a:extLst>
          </p:cNvPr>
          <p:cNvCxnSpPr>
            <a:cxnSpLocks/>
          </p:cNvCxnSpPr>
          <p:nvPr/>
        </p:nvCxnSpPr>
        <p:spPr>
          <a:xfrm flipH="1">
            <a:off x="5880757" y="1197778"/>
            <a:ext cx="1581240" cy="34614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A6F209C-F492-3FCA-DD23-9119B4C084C3}"/>
              </a:ext>
            </a:extLst>
          </p:cNvPr>
          <p:cNvGrpSpPr/>
          <p:nvPr/>
        </p:nvGrpSpPr>
        <p:grpSpPr>
          <a:xfrm>
            <a:off x="6519723" y="320733"/>
            <a:ext cx="4562782" cy="5642800"/>
            <a:chOff x="7143675" y="865816"/>
            <a:chExt cx="3647386" cy="477698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257DE14-E3A2-C145-3A45-A8274DD61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15" r="25647"/>
            <a:stretch>
              <a:fillRect/>
            </a:stretch>
          </p:blipFill>
          <p:spPr>
            <a:xfrm>
              <a:off x="7199705" y="865816"/>
              <a:ext cx="3591356" cy="4776984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4D94210-2819-1CCA-65C9-25333A297D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43675" y="1583284"/>
              <a:ext cx="1667271" cy="28043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9E4D4FA-4C2A-1B03-7360-894A05ABD2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4942" y="1237144"/>
              <a:ext cx="1432528" cy="292145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78088B3-F39B-8595-033E-FBC5E2D14FE9}"/>
                </a:ext>
              </a:extLst>
            </p:cNvPr>
            <p:cNvSpPr txBox="1"/>
            <p:nvPr/>
          </p:nvSpPr>
          <p:spPr>
            <a:xfrm>
              <a:off x="8361014" y="1758734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E4DA1CF-1F4E-BE41-37E8-966D91E83108}"/>
                </a:ext>
              </a:extLst>
            </p:cNvPr>
            <p:cNvSpPr txBox="1"/>
            <p:nvPr/>
          </p:nvSpPr>
          <p:spPr>
            <a:xfrm>
              <a:off x="9517026" y="4839936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6FEE6F1-FB59-B3BC-DB91-5B5BDC8CC30F}"/>
                </a:ext>
              </a:extLst>
            </p:cNvPr>
            <p:cNvSpPr txBox="1"/>
            <p:nvPr/>
          </p:nvSpPr>
          <p:spPr>
            <a:xfrm>
              <a:off x="8608324" y="4816181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4A45FB0-A5EF-CA50-07E9-3422F052D8B0}"/>
                </a:ext>
              </a:extLst>
            </p:cNvPr>
            <p:cNvSpPr txBox="1"/>
            <p:nvPr/>
          </p:nvSpPr>
          <p:spPr>
            <a:xfrm>
              <a:off x="9456008" y="1764389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E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622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2400</TotalTime>
  <Words>833</Words>
  <Application>Microsoft Office PowerPoint</Application>
  <PresentationFormat>Widescreen</PresentationFormat>
  <Paragraphs>123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Artifakt Element Hair</vt:lpstr>
      <vt:lpstr>Biome</vt:lpstr>
      <vt:lpstr>Candara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Charu Koushal</dc:creator>
  <cp:lastModifiedBy>Alisha Massey</cp:lastModifiedBy>
  <cp:revision>192</cp:revision>
  <dcterms:created xsi:type="dcterms:W3CDTF">2026-03-10T05:09:11Z</dcterms:created>
  <dcterms:modified xsi:type="dcterms:W3CDTF">2026-08-13T05:52:08Z</dcterms:modified>
</cp:coreProperties>
</file>