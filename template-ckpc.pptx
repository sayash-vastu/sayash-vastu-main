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64" r:id="rId2"/>
    <p:sldId id="311" r:id="rId3"/>
    <p:sldId id="32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8136"/>
    <a:srgbClr val="FFFF00"/>
    <a:srgbClr val="3AFF2B"/>
    <a:srgbClr val="F47D35"/>
    <a:srgbClr val="FF0000"/>
    <a:srgbClr val="92D050"/>
    <a:srgbClr val="C8E8C6"/>
    <a:srgbClr val="000000"/>
    <a:srgbClr val="FFFFFF"/>
    <a:srgbClr val="F8B0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71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55BAF9C-36F8-0D5F-0BCF-241F65DE8CE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27C655-BAC1-0BCE-C41D-BA52B04E4BC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7ED550-C54B-415E-9DAD-F6854E952D0E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1444E2-D2A1-D327-EA8D-9DB1F697EB5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SATISH GUPTA &amp; YASH GUPTA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6C742D-68EB-7AD1-189D-929B5BA109E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80E252-148D-45A3-BBF5-CA22F94EEE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36102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107DFA-4781-4202-A810-5C965A8E0327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SATISH GUPTA &amp; YASH GUPTA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2E88F9-EA16-463E-84C7-FDB777B48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65223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E5FF0-C73B-F54E-8353-457A9443C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8B4F30-4256-5DA0-65A5-B31FDF451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CB48F-1582-A967-E6C0-54B45CB6C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4911B-6A07-4418-BC97-32D5E2F31022}" type="datetime1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6E6FF-98B1-F9CE-4C1A-9823429E5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D3C36-D447-475A-05BB-60218A1F2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C70DC-9214-4944-9F8A-C850AD0F37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467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3BF9E-A66A-CC8A-1603-F91B68E05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B3E6B-F5E7-9611-9325-6D659B88E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72D36-2ADA-8BA1-2987-10A2FAF56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8EFA9-E31A-416C-8EAB-7A5E5BF64B07}" type="datetime1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57553-E83D-0CEB-66D6-8DD68FF41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04085-95DA-9498-346B-0316D5231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C70DC-9214-4944-9F8A-C850AD0F37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366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967C1-9C0F-1A1C-8382-2A99EA037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097D3F-BCA1-D189-A09F-C5A4D69A3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2C529-D678-A6CA-9BBC-64FA38441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A720F-034B-42CF-BD50-903C91513188}" type="datetime1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F73BF-2649-D294-8E65-AF4E55475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6D88F-EECB-A629-8C88-802148E74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C70DC-9214-4944-9F8A-C850AD0F37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716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8EA79-73F8-9246-CE71-FD44E73A2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A36DD-4D9A-493A-F76A-966EF7B246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CF6EBC-8551-BBA5-FC35-F21F2163D2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D3EFCB-71FC-02FF-F881-A959BBCF1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40145-BD50-404D-AC29-725D2B9A927D}" type="datetime1">
              <a:rPr lang="en-US" smtClean="0"/>
              <a:pPr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0D5820-19C4-6EE0-BBE1-E76C798E8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ACA4A-2B68-5EC7-6423-2EB13CF4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C70DC-9214-4944-9F8A-C850AD0F37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232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6E5C6-4C2F-E297-1BAD-9E4888B1A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50C758-E5BF-B51B-826D-D63FB57DA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B15C3E-4741-8E63-AF03-31C3F8FFB0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360301-494B-7B73-24A7-E6EA442B90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BC26AF-5275-1438-3C6C-F1BE52FB64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9EA932-3004-B678-70CF-159A7381C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5A6E4-5426-4257-81A9-CB281A2F65DC}" type="datetime1">
              <a:rPr lang="en-US" smtClean="0"/>
              <a:pPr/>
              <a:t>7/1/2026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E375C2-6471-8D56-7097-7AB5B5C5E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4C620D-1784-D234-8661-C18BAAF32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C70DC-9214-4944-9F8A-C850AD0F37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01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49F46-B590-EF04-D4A1-BA4F75764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9C9464-1E0B-35B1-EE7F-84926646E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E6964-3444-4438-B3AC-11A292771DE2}" type="datetime1">
              <a:rPr lang="en-US" smtClean="0"/>
              <a:pPr/>
              <a:t>7/1/2026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ED25C9-B4D4-C6F5-08E1-D64FFBBED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41189A-6046-AA9B-49DC-30AC762F6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C70DC-9214-4944-9F8A-C850AD0F37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396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D4E8D9-C425-EDC2-D944-E912F20FC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C1C98-5AB0-4646-9B0C-0FDEBB164900}" type="datetime1">
              <a:rPr lang="en-US" smtClean="0"/>
              <a:pPr/>
              <a:t>7/1/2026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DABC70-7BBC-DDFF-4A59-DC90EA2F6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BBAAE-6E03-F51E-DD96-239FF937C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C70DC-9214-4944-9F8A-C850AD0F37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925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36AB4-C8A9-6A3C-81CC-A71ACA7E2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BF606-DF6F-BB6D-83B9-3EF52D49D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6ED96E-B5CC-94AF-04D3-4C2A4641E1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144E2A-CB88-C60E-1D75-20B81F8A6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1EA10-6167-497F-9278-672BB51FE7CF}" type="datetime1">
              <a:rPr lang="en-US" smtClean="0"/>
              <a:pPr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531880-0F52-5668-86A3-7BAD0A606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E6ACD0-3C65-83B6-9155-973C54F10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C70DC-9214-4944-9F8A-C850AD0F37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277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66205-F0CF-E5ED-C328-0D8A56851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38F8A2-1B71-E90A-804F-C7AD041044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7DC4B9-D828-FE03-F469-1D2FD17DD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11C266-75E1-6535-53B2-71B429F20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BA59-A0E0-44E6-BD71-E48F4AA4632B}" type="datetime1">
              <a:rPr lang="en-US" smtClean="0"/>
              <a:pPr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B9B85B-EE08-6F70-DFCC-04927E782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403108-6792-18B6-5D23-B23536ACD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C70DC-9214-4944-9F8A-C850AD0F37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577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78538-418A-7EBF-07C4-1699A399B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7851ED-01B9-2898-1DC9-5A174BF619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33EE5-4F94-B08D-5228-1A4DEEDCA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DCD8C-8169-44D0-838C-A869EB44F202}" type="datetime1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35466-83BA-3866-6096-B21994E95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7CBAA7-7A5E-AC09-F417-ADCD75B9E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C70DC-9214-4944-9F8A-C850AD0F37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441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BC71EF-0B7A-D0E3-42D0-8CC150D7BF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554198-1EFE-2DD2-9A3F-3F85219B42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AA050-0A74-13EF-3A30-0FBAACA0A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31B56-7D14-4F60-A7F3-7EDCFCD21D19}" type="datetime1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3D5BE-C7AD-D6B0-848F-87E20C718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D9A13-AC33-4E41-BE93-5729B6357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C70DC-9214-4944-9F8A-C850AD0F37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306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867AA0-EA4D-2CBC-A87C-9F0B35CC4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69DDC-28EC-1602-97A2-CE62251E2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4CDD4-5871-E6F2-99B5-B42415508F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ACB9B1-2B40-4B2D-83D1-21671AC69BAC}" type="datetime1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D6389-E4E8-D028-FA16-F71BEA84AA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2A0F2-1931-D815-7CAD-A47571CEAA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5C70DC-9214-4944-9F8A-C850AD0F37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475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e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hyperlink" Target="https://maps.app.goo.gl/YfLbGN97beHyFHAi6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eg"/><Relationship Id="rId5" Type="http://schemas.openxmlformats.org/officeDocument/2006/relationships/image" Target="../media/image2.png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427266-2A11-7A62-5151-C97601DC4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1917"/>
            <a:ext cx="4114800" cy="365125"/>
          </a:xfrm>
        </p:spPr>
        <p:txBody>
          <a:bodyPr/>
          <a:lstStyle/>
          <a:p>
            <a:r>
              <a:rPr lang="en-US" u="sng" dirty="0">
                <a:solidFill>
                  <a:schemeClr val="tx1"/>
                </a:solidFill>
                <a:latin typeface="Artifakt Element Hair" panose="020B0203050000020004" pitchFamily="34" charset="0"/>
                <a:ea typeface="Artifakt Element Hair" panose="020B0203050000020004" pitchFamily="34" charset="0"/>
                <a:cs typeface="Arial" pitchFamily="34" charset="0"/>
              </a:rPr>
              <a:t>SATISH GUPTA &amp; YASH GUPTA</a:t>
            </a:r>
          </a:p>
          <a:p>
            <a:r>
              <a:rPr lang="en-US" u="sng" dirty="0">
                <a:solidFill>
                  <a:schemeClr val="tx1"/>
                </a:solidFill>
                <a:latin typeface="Artifakt Element Hair" panose="020B0203050000020004" pitchFamily="34" charset="0"/>
                <a:ea typeface="Artifakt Element Hair" panose="020B0203050000020004" pitchFamily="34" charset="0"/>
                <a:cs typeface="Arial" pitchFamily="34" charset="0"/>
              </a:rPr>
              <a:t> (VASTU CONSULTANTS)</a:t>
            </a:r>
          </a:p>
          <a:p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C8FB2C0-EC6E-E7F0-FCBC-57E28F0DE01B}"/>
              </a:ext>
            </a:extLst>
          </p:cNvPr>
          <p:cNvGrpSpPr/>
          <p:nvPr/>
        </p:nvGrpSpPr>
        <p:grpSpPr>
          <a:xfrm>
            <a:off x="3179002" y="422786"/>
            <a:ext cx="5833993" cy="1092458"/>
            <a:chOff x="2644878" y="762874"/>
            <a:chExt cx="6853084" cy="1283291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8E69D90-9C4A-D884-3556-A21AEDA0A13E}"/>
                </a:ext>
              </a:extLst>
            </p:cNvPr>
            <p:cNvCxnSpPr>
              <a:cxnSpLocks/>
            </p:cNvCxnSpPr>
            <p:nvPr/>
          </p:nvCxnSpPr>
          <p:spPr>
            <a:xfrm>
              <a:off x="2644878" y="1582993"/>
              <a:ext cx="6853084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DBF58A5-D35F-4794-DF85-B9AF1BAE735D}"/>
                </a:ext>
              </a:extLst>
            </p:cNvPr>
            <p:cNvSpPr txBox="1"/>
            <p:nvPr/>
          </p:nvSpPr>
          <p:spPr>
            <a:xfrm>
              <a:off x="2708787" y="762874"/>
              <a:ext cx="6774426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4400" b="1" dirty="0">
                  <a:effectLst/>
                  <a:latin typeface="Candara Light" panose="020E0502030303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CKPC PROPERTIES</a:t>
              </a:r>
              <a:endParaRPr lang="en-US" sz="4400" b="1" dirty="0">
                <a:latin typeface="Candara Light" panose="020E050203030302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59E0AE0-F601-0B28-9F48-068A017B8D3B}"/>
                </a:ext>
              </a:extLst>
            </p:cNvPr>
            <p:cNvSpPr txBox="1"/>
            <p:nvPr/>
          </p:nvSpPr>
          <p:spPr>
            <a:xfrm>
              <a:off x="3205314" y="1612317"/>
              <a:ext cx="5781369" cy="4338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rgbClr val="C00000"/>
                  </a:solidFill>
                </a:rPr>
                <a:t>HEAD OFFICE, GUTTAHALLI BANGALORE</a:t>
              </a:r>
              <a:endParaRPr lang="en-US" sz="2000" dirty="0">
                <a:solidFill>
                  <a:srgbClr val="C00000"/>
                </a:solidFill>
                <a:latin typeface="Biome" panose="020B0503030204020804" pitchFamily="34" charset="0"/>
                <a:cs typeface="Biome" panose="020B0503030204020804" pitchFamily="34" charset="0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CE42ABB7-22CA-A92E-C597-577EECD5D7C3}"/>
              </a:ext>
            </a:extLst>
          </p:cNvPr>
          <p:cNvSpPr txBox="1"/>
          <p:nvPr/>
        </p:nvSpPr>
        <p:spPr>
          <a:xfrm>
            <a:off x="3451121" y="4895340"/>
            <a:ext cx="52405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Site visited on-25</a:t>
            </a:r>
            <a:r>
              <a:rPr lang="en-US" baseline="30000" dirty="0">
                <a:solidFill>
                  <a:schemeClr val="accent2">
                    <a:lumMod val="50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t</a:t>
            </a:r>
            <a:r>
              <a:rPr lang="en-US" baseline="30000" dirty="0">
                <a:solidFill>
                  <a:schemeClr val="accent2">
                    <a:lumMod val="50000"/>
                  </a:schemeClr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h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 June, 2026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E25652-CF3B-B2D5-A8E7-E0B7362016B2}"/>
              </a:ext>
            </a:extLst>
          </p:cNvPr>
          <p:cNvSpPr txBox="1"/>
          <p:nvPr/>
        </p:nvSpPr>
        <p:spPr>
          <a:xfrm>
            <a:off x="1927763" y="4187454"/>
            <a:ext cx="83783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accent2">
                    <a:lumMod val="50000"/>
                  </a:schemeClr>
                </a:solidFill>
                <a:effectLst/>
                <a:latin typeface="Biome" panose="020B0503030204020804" pitchFamily="34" charset="0"/>
                <a:cs typeface="Biome" panose="020B0503030204020804" pitchFamily="34" charset="0"/>
              </a:rPr>
              <a:t>VASTU STRATEGIC ANALYSIS-05</a:t>
            </a:r>
            <a:endParaRPr lang="en-US" sz="4000" dirty="0">
              <a:solidFill>
                <a:schemeClr val="accent2">
                  <a:lumMod val="50000"/>
                </a:schemeClr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44E5CA-7A80-07C2-0A16-DA8FFDAB961E}"/>
              </a:ext>
            </a:extLst>
          </p:cNvPr>
          <p:cNvSpPr txBox="1"/>
          <p:nvPr/>
        </p:nvSpPr>
        <p:spPr>
          <a:xfrm>
            <a:off x="10518056" y="6419265"/>
            <a:ext cx="15608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1400" dirty="0">
                <a:solidFill>
                  <a:srgbClr val="80350E"/>
                </a:solidFill>
              </a:rPr>
              <a:t>VR/169/26</a:t>
            </a:r>
            <a:endParaRPr lang="en-US" sz="1400" dirty="0">
              <a:solidFill>
                <a:srgbClr val="80350E"/>
              </a:solidFill>
              <a:effectLst/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5F777F-AC2A-C356-EE30-655680B6D98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511" t="-1493" r="26728" b="43168"/>
          <a:stretch>
            <a:fillRect/>
          </a:stretch>
        </p:blipFill>
        <p:spPr>
          <a:xfrm>
            <a:off x="4864408" y="2276678"/>
            <a:ext cx="2414023" cy="176503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D6337FF-E637-6137-FE20-FB28048BDEA4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1212256" y="99500"/>
            <a:ext cx="770194" cy="519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472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B99C4-D8D0-862B-B80D-70894D8C6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8C7362-33C3-B8E5-B896-BD78DE6C6F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70" t="23095" r="15165" b="22594"/>
          <a:stretch>
            <a:fillRect/>
          </a:stretch>
        </p:blipFill>
        <p:spPr>
          <a:xfrm>
            <a:off x="11215901" y="6149729"/>
            <a:ext cx="831893" cy="6476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7BFA7C-8C87-6361-164F-7DE09857DDAD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74121" y="6151095"/>
            <a:ext cx="944338" cy="636425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33A685-DD8F-091C-8D56-D5BE2C85E586}"/>
              </a:ext>
            </a:extLst>
          </p:cNvPr>
          <p:cNvCxnSpPr/>
          <p:nvPr/>
        </p:nvCxnSpPr>
        <p:spPr>
          <a:xfrm>
            <a:off x="-9832" y="6095995"/>
            <a:ext cx="12204000" cy="0"/>
          </a:xfrm>
          <a:prstGeom prst="line">
            <a:avLst/>
          </a:prstGeom>
          <a:ln w="28575">
            <a:solidFill>
              <a:srgbClr val="F47D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4278AC1-D489-AFF5-1F4D-BEF6398211CB}"/>
              </a:ext>
            </a:extLst>
          </p:cNvPr>
          <p:cNvGrpSpPr/>
          <p:nvPr/>
        </p:nvGrpSpPr>
        <p:grpSpPr>
          <a:xfrm>
            <a:off x="274121" y="223222"/>
            <a:ext cx="3796434" cy="523220"/>
            <a:chOff x="443437" y="420976"/>
            <a:chExt cx="5850421" cy="52322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67F5781-A947-81FF-B0AA-E31D5DF8FAD7}"/>
                </a:ext>
              </a:extLst>
            </p:cNvPr>
            <p:cNvSpPr txBox="1"/>
            <p:nvPr/>
          </p:nvSpPr>
          <p:spPr>
            <a:xfrm>
              <a:off x="443437" y="420976"/>
              <a:ext cx="585042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800" b="1" dirty="0">
                  <a:solidFill>
                    <a:srgbClr val="1E3750"/>
                  </a:solidFill>
                </a:rPr>
                <a:t>NORTH </a:t>
              </a:r>
              <a:r>
                <a:rPr lang="en-IN" sz="2800" dirty="0">
                  <a:solidFill>
                    <a:srgbClr val="1E3750"/>
                  </a:solidFill>
                </a:rPr>
                <a:t>ALIGNMENT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113F55E-20CA-6539-8EBA-9AFE5BC13BA8}"/>
                </a:ext>
              </a:extLst>
            </p:cNvPr>
            <p:cNvCxnSpPr>
              <a:cxnSpLocks/>
            </p:cNvCxnSpPr>
            <p:nvPr/>
          </p:nvCxnSpPr>
          <p:spPr>
            <a:xfrm>
              <a:off x="562155" y="939276"/>
              <a:ext cx="1371600" cy="0"/>
            </a:xfrm>
            <a:prstGeom prst="line">
              <a:avLst/>
            </a:prstGeom>
            <a:ln w="57150">
              <a:solidFill>
                <a:srgbClr val="F47D3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885F6B0-513D-1FF5-44E3-ECE55EF4364B}"/>
              </a:ext>
            </a:extLst>
          </p:cNvPr>
          <p:cNvGrpSpPr/>
          <p:nvPr/>
        </p:nvGrpSpPr>
        <p:grpSpPr>
          <a:xfrm>
            <a:off x="986459" y="956888"/>
            <a:ext cx="2262754" cy="2755668"/>
            <a:chOff x="816113" y="907751"/>
            <a:chExt cx="2262754" cy="2755668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E9654583-180B-E633-0262-C76110EAC732}"/>
                </a:ext>
              </a:extLst>
            </p:cNvPr>
            <p:cNvSpPr/>
            <p:nvPr/>
          </p:nvSpPr>
          <p:spPr>
            <a:xfrm>
              <a:off x="816113" y="907751"/>
              <a:ext cx="2195233" cy="2755668"/>
            </a:xfrm>
            <a:prstGeom prst="roundRect">
              <a:avLst>
                <a:gd name="adj" fmla="val 6808"/>
              </a:avLst>
            </a:prstGeom>
            <a:solidFill>
              <a:schemeClr val="bg1"/>
            </a:solidFill>
            <a:ln cap="flat">
              <a:noFill/>
              <a:rou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5034D53-C740-A8E9-8837-CDDBE060E658}"/>
                </a:ext>
              </a:extLst>
            </p:cNvPr>
            <p:cNvGrpSpPr/>
            <p:nvPr/>
          </p:nvGrpSpPr>
          <p:grpSpPr>
            <a:xfrm>
              <a:off x="926382" y="981047"/>
              <a:ext cx="1736371" cy="331323"/>
              <a:chOff x="539697" y="1107653"/>
              <a:chExt cx="1736371" cy="331323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26C2C0D-4836-3B72-B40A-0E6E88FE69EB}"/>
                  </a:ext>
                </a:extLst>
              </p:cNvPr>
              <p:cNvSpPr txBox="1"/>
              <p:nvPr/>
            </p:nvSpPr>
            <p:spPr>
              <a:xfrm>
                <a:off x="539697" y="1107653"/>
                <a:ext cx="1736371" cy="3218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100" b="1" dirty="0">
                    <a:solidFill>
                      <a:srgbClr val="000C39"/>
                    </a:solidFill>
                  </a:rPr>
                  <a:t>DIRECTION ANALYSIS</a:t>
                </a:r>
              </a:p>
            </p:txBody>
          </p: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D6D8500B-66F3-E1F0-C7F7-A42825AD78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8427" y="1438976"/>
                <a:ext cx="473512" cy="0"/>
              </a:xfrm>
              <a:prstGeom prst="line">
                <a:avLst/>
              </a:prstGeom>
              <a:ln w="28575">
                <a:solidFill>
                  <a:srgbClr val="F47D3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7DB278B-91FD-9AE9-AE46-EFC96812EDDE}"/>
                </a:ext>
              </a:extLst>
            </p:cNvPr>
            <p:cNvSpPr txBox="1"/>
            <p:nvPr/>
          </p:nvSpPr>
          <p:spPr>
            <a:xfrm>
              <a:off x="1015755" y="3044741"/>
              <a:ext cx="2063112" cy="4878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900" dirty="0">
                  <a:solidFill>
                    <a:srgbClr val="000C39"/>
                  </a:solidFill>
                </a:rPr>
                <a:t>The site is </a:t>
              </a:r>
              <a:r>
                <a:rPr lang="en-US" sz="900" dirty="0">
                  <a:solidFill>
                    <a:srgbClr val="F47D35"/>
                  </a:solidFill>
                </a:rPr>
                <a:t>North-East Facing.</a:t>
              </a:r>
            </a:p>
            <a:p>
              <a:pPr>
                <a:lnSpc>
                  <a:spcPct val="150000"/>
                </a:lnSpc>
              </a:pPr>
              <a:r>
                <a:rPr lang="en-IN" sz="900" dirty="0">
                  <a:hlinkClick r:id="rId4"/>
                </a:rPr>
                <a:t>Tap</a:t>
              </a:r>
              <a:r>
                <a:rPr lang="en-IN" sz="900" dirty="0">
                  <a:solidFill>
                    <a:srgbClr val="467886"/>
                  </a:solidFill>
                  <a:hlinkClick r:id="rId4"/>
                </a:rPr>
                <a:t> </a:t>
              </a:r>
              <a:r>
                <a:rPr lang="en-IN" sz="900" dirty="0">
                  <a:hlinkClick r:id="rId4"/>
                </a:rPr>
                <a:t>Here to Open the Location</a:t>
              </a:r>
              <a:endParaRPr lang="en-US" sz="90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C660801-E423-B4D4-AA7E-4F8191B66F10}"/>
              </a:ext>
            </a:extLst>
          </p:cNvPr>
          <p:cNvGrpSpPr/>
          <p:nvPr/>
        </p:nvGrpSpPr>
        <p:grpSpPr>
          <a:xfrm>
            <a:off x="976983" y="3893506"/>
            <a:ext cx="2215160" cy="2014222"/>
            <a:chOff x="796186" y="3867347"/>
            <a:chExt cx="2215160" cy="2014222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1B0DBBA8-B5B4-A1E5-E3A8-846D02D6B9A8}"/>
                </a:ext>
              </a:extLst>
            </p:cNvPr>
            <p:cNvSpPr/>
            <p:nvPr/>
          </p:nvSpPr>
          <p:spPr>
            <a:xfrm>
              <a:off x="796186" y="3867347"/>
              <a:ext cx="2215160" cy="2014222"/>
            </a:xfrm>
            <a:prstGeom prst="roundRect">
              <a:avLst>
                <a:gd name="adj" fmla="val 8686"/>
              </a:avLst>
            </a:prstGeom>
            <a:solidFill>
              <a:srgbClr val="FFFFFF"/>
            </a:solidFill>
            <a:ln cap="flat">
              <a:solidFill>
                <a:schemeClr val="bg2"/>
              </a:solidFill>
              <a:rou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9973EEB-5FC5-0FBB-1399-D13F88CB22DD}"/>
                </a:ext>
              </a:extLst>
            </p:cNvPr>
            <p:cNvGrpSpPr/>
            <p:nvPr/>
          </p:nvGrpSpPr>
          <p:grpSpPr>
            <a:xfrm>
              <a:off x="937784" y="4380411"/>
              <a:ext cx="1899623" cy="1329331"/>
              <a:chOff x="1020604" y="4308988"/>
              <a:chExt cx="1990742" cy="1416829"/>
            </a:xfrm>
          </p:grpSpPr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6A9EAEC8-6165-C5BB-CB0F-62355FD8390A}"/>
                  </a:ext>
                </a:extLst>
              </p:cNvPr>
              <p:cNvSpPr/>
              <p:nvPr/>
            </p:nvSpPr>
            <p:spPr>
              <a:xfrm>
                <a:off x="1024653" y="4308988"/>
                <a:ext cx="1986693" cy="1409040"/>
              </a:xfrm>
              <a:prstGeom prst="roundRect">
                <a:avLst>
                  <a:gd name="adj" fmla="val 5895"/>
                </a:avLst>
              </a:prstGeom>
              <a:solidFill>
                <a:srgbClr val="FFFFFF"/>
              </a:solidFill>
              <a:ln cap="flat">
                <a:solidFill>
                  <a:schemeClr val="bg2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6D1C83DC-5188-EF16-93FD-4EBE4A092ED2}"/>
                  </a:ext>
                </a:extLst>
              </p:cNvPr>
              <p:cNvCxnSpPr/>
              <p:nvPr/>
            </p:nvCxnSpPr>
            <p:spPr>
              <a:xfrm>
                <a:off x="1476751" y="4308988"/>
                <a:ext cx="0" cy="140904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3C992AD6-7875-F2B5-8505-B106AEC1F47A}"/>
                  </a:ext>
                </a:extLst>
              </p:cNvPr>
              <p:cNvCxnSpPr/>
              <p:nvPr/>
            </p:nvCxnSpPr>
            <p:spPr>
              <a:xfrm>
                <a:off x="2224686" y="4316777"/>
                <a:ext cx="0" cy="140904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3EC605A1-9A9D-5FBC-6B48-5655DDAE815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010605" y="3815812"/>
                <a:ext cx="0" cy="198000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68973E0D-7237-9263-9701-7920FB5AD72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010604" y="4271663"/>
                <a:ext cx="0" cy="198000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2" name="Picture 41">
                <a:extLst>
                  <a:ext uri="{FF2B5EF4-FFF2-40B4-BE49-F238E27FC236}">
                    <a16:creationId xmlns:a16="http://schemas.microsoft.com/office/drawing/2014/main" id="{7E020AA3-67B0-EE6B-6F25-DF7A24E190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5953" t="22894" r="32841" b="61164"/>
              <a:stretch>
                <a:fillRect/>
              </a:stretch>
            </p:blipFill>
            <p:spPr>
              <a:xfrm>
                <a:off x="1102002" y="4412168"/>
                <a:ext cx="296089" cy="280823"/>
              </a:xfrm>
              <a:prstGeom prst="rect">
                <a:avLst/>
              </a:prstGeom>
            </p:spPr>
          </p:pic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2E4DDAA6-0472-4E15-ABD5-027673D8C3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5432" t="46331" r="32581" b="38023"/>
              <a:stretch>
                <a:fillRect/>
              </a:stretch>
            </p:blipFill>
            <p:spPr>
              <a:xfrm>
                <a:off x="1092345" y="4885724"/>
                <a:ext cx="316715" cy="275628"/>
              </a:xfrm>
              <a:prstGeom prst="rect">
                <a:avLst/>
              </a:prstGeom>
            </p:spPr>
          </p:pic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7DEA7159-C664-A37E-1764-C10F57B25F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7425" t="69212" r="32913" b="15611"/>
              <a:stretch>
                <a:fillRect/>
              </a:stretch>
            </p:blipFill>
            <p:spPr>
              <a:xfrm>
                <a:off x="1131935" y="5353632"/>
                <a:ext cx="255299" cy="267348"/>
              </a:xfrm>
              <a:prstGeom prst="rect">
                <a:avLst/>
              </a:prstGeom>
            </p:spPr>
          </p:pic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25D6A663-AB16-64FB-B63C-DF1C41A45A3D}"/>
                </a:ext>
              </a:extLst>
            </p:cNvPr>
            <p:cNvGrpSpPr/>
            <p:nvPr/>
          </p:nvGrpSpPr>
          <p:grpSpPr>
            <a:xfrm>
              <a:off x="926382" y="3937241"/>
              <a:ext cx="1736371" cy="321819"/>
              <a:chOff x="539697" y="1166645"/>
              <a:chExt cx="1736371" cy="321819"/>
            </a:xfrm>
          </p:grpSpPr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C588FA0-7C87-2359-5489-36C70F0A7BB6}"/>
                  </a:ext>
                </a:extLst>
              </p:cNvPr>
              <p:cNvSpPr txBox="1"/>
              <p:nvPr/>
            </p:nvSpPr>
            <p:spPr>
              <a:xfrm>
                <a:off x="539697" y="1166645"/>
                <a:ext cx="1736371" cy="3218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100" b="1" dirty="0">
                    <a:solidFill>
                      <a:srgbClr val="000C39"/>
                    </a:solidFill>
                  </a:rPr>
                  <a:t>SITE INFORMATION</a:t>
                </a:r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AD43E439-9F95-29C3-A3A2-A60A348E80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8427" y="1478304"/>
                <a:ext cx="473512" cy="0"/>
              </a:xfrm>
              <a:prstGeom prst="line">
                <a:avLst/>
              </a:prstGeom>
              <a:ln w="28575">
                <a:solidFill>
                  <a:srgbClr val="F47D3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74C846B-7093-AC5D-0409-D2B3BA763575}"/>
                </a:ext>
              </a:extLst>
            </p:cNvPr>
            <p:cNvSpPr txBox="1"/>
            <p:nvPr/>
          </p:nvSpPr>
          <p:spPr>
            <a:xfrm>
              <a:off x="1370566" y="4430767"/>
              <a:ext cx="77092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900" dirty="0">
                  <a:solidFill>
                    <a:srgbClr val="000C39"/>
                  </a:solidFill>
                </a:rPr>
                <a:t>Site Orientation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77CE31C-0B2F-B795-44EA-61ADDFEA8601}"/>
                </a:ext>
              </a:extLst>
            </p:cNvPr>
            <p:cNvSpPr txBox="1"/>
            <p:nvPr/>
          </p:nvSpPr>
          <p:spPr>
            <a:xfrm>
              <a:off x="1340240" y="4896749"/>
              <a:ext cx="6966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900" dirty="0">
                  <a:solidFill>
                    <a:srgbClr val="000C39"/>
                  </a:solidFill>
                </a:rPr>
                <a:t>Reference Source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70D6B0D-B5D1-5565-3078-3D01B6CB7C79}"/>
                </a:ext>
              </a:extLst>
            </p:cNvPr>
            <p:cNvSpPr txBox="1"/>
            <p:nvPr/>
          </p:nvSpPr>
          <p:spPr>
            <a:xfrm>
              <a:off x="1345320" y="5303677"/>
              <a:ext cx="79617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900" dirty="0">
                  <a:solidFill>
                    <a:srgbClr val="000C39"/>
                  </a:solidFill>
                </a:rPr>
                <a:t>Observation Date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1BAA5CB-04A3-8C3A-527C-FA9D415958FA}"/>
                </a:ext>
              </a:extLst>
            </p:cNvPr>
            <p:cNvSpPr txBox="1"/>
            <p:nvPr/>
          </p:nvSpPr>
          <p:spPr>
            <a:xfrm>
              <a:off x="2067549" y="4934631"/>
              <a:ext cx="79480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900" dirty="0">
                  <a:solidFill>
                    <a:srgbClr val="000C39"/>
                  </a:solidFill>
                </a:rPr>
                <a:t>Google Map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4C4AF93-AF8E-C111-39BA-8AC0BDBB9E1C}"/>
                </a:ext>
              </a:extLst>
            </p:cNvPr>
            <p:cNvSpPr txBox="1"/>
            <p:nvPr/>
          </p:nvSpPr>
          <p:spPr>
            <a:xfrm>
              <a:off x="2078865" y="5368369"/>
              <a:ext cx="79480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900" dirty="0">
                  <a:solidFill>
                    <a:srgbClr val="000C39"/>
                  </a:solidFill>
                </a:rPr>
                <a:t>June 2026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525E516-1B7E-D4E9-4F96-F15D04562746}"/>
                </a:ext>
              </a:extLst>
            </p:cNvPr>
            <p:cNvSpPr txBox="1"/>
            <p:nvPr/>
          </p:nvSpPr>
          <p:spPr>
            <a:xfrm>
              <a:off x="2054409" y="4431540"/>
              <a:ext cx="8396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900" dirty="0">
                  <a:solidFill>
                    <a:srgbClr val="000C39"/>
                  </a:solidFill>
                </a:rPr>
                <a:t>North-East Facing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3DB088F-8A36-341F-14AA-54022AB21CE0}"/>
              </a:ext>
            </a:extLst>
          </p:cNvPr>
          <p:cNvSpPr txBox="1"/>
          <p:nvPr/>
        </p:nvSpPr>
        <p:spPr>
          <a:xfrm>
            <a:off x="10778366" y="186497"/>
            <a:ext cx="8750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1" dirty="0">
                <a:solidFill>
                  <a:srgbClr val="000C39"/>
                </a:solidFill>
              </a:rPr>
              <a:t>PROJECT:</a:t>
            </a:r>
          </a:p>
          <a:p>
            <a:r>
              <a:rPr lang="en-IN" sz="900" dirty="0">
                <a:solidFill>
                  <a:srgbClr val="F47D35"/>
                </a:solidFill>
              </a:rPr>
              <a:t>Head Office, </a:t>
            </a:r>
            <a:r>
              <a:rPr lang="en-IN" sz="900" dirty="0" err="1">
                <a:solidFill>
                  <a:srgbClr val="F47D35"/>
                </a:solidFill>
              </a:rPr>
              <a:t>Guttahalli</a:t>
            </a:r>
            <a:endParaRPr lang="en-US" sz="900" dirty="0">
              <a:solidFill>
                <a:srgbClr val="F47D35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776C77E-4D36-B18A-D5F5-483DA0E64F94}"/>
              </a:ext>
            </a:extLst>
          </p:cNvPr>
          <p:cNvCxnSpPr>
            <a:cxnSpLocks/>
          </p:cNvCxnSpPr>
          <p:nvPr/>
        </p:nvCxnSpPr>
        <p:spPr>
          <a:xfrm>
            <a:off x="11607870" y="226217"/>
            <a:ext cx="0" cy="468000"/>
          </a:xfrm>
          <a:prstGeom prst="line">
            <a:avLst/>
          </a:prstGeom>
          <a:ln w="12700">
            <a:solidFill>
              <a:srgbClr val="F47D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Slide Number Placeholder 46">
            <a:extLst>
              <a:ext uri="{FF2B5EF4-FFF2-40B4-BE49-F238E27FC236}">
                <a16:creationId xmlns:a16="http://schemas.microsoft.com/office/drawing/2014/main" id="{C05321A1-24A4-7161-B121-F2BE9F95C42A}"/>
              </a:ext>
            </a:extLst>
          </p:cNvPr>
          <p:cNvSpPr txBox="1">
            <a:spLocks/>
          </p:cNvSpPr>
          <p:nvPr/>
        </p:nvSpPr>
        <p:spPr>
          <a:xfrm>
            <a:off x="11581684" y="265545"/>
            <a:ext cx="4661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rgbClr val="F47D35"/>
                </a:solidFill>
              </a:rPr>
              <a:t>0</a:t>
            </a:r>
            <a:fld id="{B33E2CC4-F11D-4E54-86EA-E05F33837D9B}" type="slidenum">
              <a:rPr lang="en-US" sz="2000" smtClean="0">
                <a:solidFill>
                  <a:srgbClr val="F47D35"/>
                </a:solidFill>
              </a:rPr>
              <a:pPr algn="ctr"/>
              <a:t>2</a:t>
            </a:fld>
            <a:endParaRPr lang="en-US" sz="2000" dirty="0">
              <a:solidFill>
                <a:srgbClr val="F47D35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53318B-3078-21D1-7447-ED5FED46E292}"/>
              </a:ext>
            </a:extLst>
          </p:cNvPr>
          <p:cNvSpPr txBox="1"/>
          <p:nvPr/>
        </p:nvSpPr>
        <p:spPr>
          <a:xfrm>
            <a:off x="5075702" y="6229918"/>
            <a:ext cx="2032929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rPr lang="en-US" sz="1100" dirty="0"/>
              <a:t>SATISH GUPTA &amp; YASH GUPTA</a:t>
            </a:r>
          </a:p>
          <a:p>
            <a:pPr algn="ctr">
              <a:defRPr sz="1600"/>
            </a:pPr>
            <a:r>
              <a:rPr lang="en-US" sz="1100" dirty="0"/>
              <a:t>(VASTU CONSULTANTS)</a:t>
            </a:r>
            <a:endParaRPr sz="1100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E33E9D75-5156-F840-FB78-23A75F64C728}"/>
              </a:ext>
            </a:extLst>
          </p:cNvPr>
          <p:cNvGrpSpPr/>
          <p:nvPr/>
        </p:nvGrpSpPr>
        <p:grpSpPr>
          <a:xfrm>
            <a:off x="3748962" y="956888"/>
            <a:ext cx="5584902" cy="4905143"/>
            <a:chOff x="3748962" y="956888"/>
            <a:chExt cx="5584902" cy="4905143"/>
          </a:xfrm>
        </p:grpSpPr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A1C4D87F-2C7C-259F-D595-0E97695B9A3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748962" y="956888"/>
              <a:ext cx="5584902" cy="4905143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7F4E260A-0D89-757C-F156-ACE2B57CC38F}"/>
                </a:ext>
              </a:extLst>
            </p:cNvPr>
            <p:cNvSpPr/>
            <p:nvPr/>
          </p:nvSpPr>
          <p:spPr>
            <a:xfrm>
              <a:off x="5437239" y="2694039"/>
              <a:ext cx="1179871" cy="1581020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  <a:ln w="19050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674322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F309A-8BAF-6A7F-F146-C07306087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AA902B9-CE18-B4FB-CBC1-E26C4AEDF5F1}"/>
              </a:ext>
            </a:extLst>
          </p:cNvPr>
          <p:cNvGrpSpPr/>
          <p:nvPr/>
        </p:nvGrpSpPr>
        <p:grpSpPr>
          <a:xfrm>
            <a:off x="5715813" y="1088674"/>
            <a:ext cx="5439977" cy="4873399"/>
            <a:chOff x="391146" y="533427"/>
            <a:chExt cx="5860751" cy="5250349"/>
          </a:xfrm>
        </p:grpSpPr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AA68FA62-A2BC-72D2-8582-34B2F9A067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1146" y="533427"/>
              <a:ext cx="5860751" cy="5250349"/>
            </a:xfrm>
            <a:prstGeom prst="rect">
              <a:avLst/>
            </a:prstGeom>
          </p:spPr>
        </p:pic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41B2C474-C4FD-07C9-01A8-D6B46F787A62}"/>
                </a:ext>
              </a:extLst>
            </p:cNvPr>
            <p:cNvCxnSpPr>
              <a:cxnSpLocks/>
            </p:cNvCxnSpPr>
            <p:nvPr/>
          </p:nvCxnSpPr>
          <p:spPr>
            <a:xfrm>
              <a:off x="4039396" y="3322910"/>
              <a:ext cx="104003" cy="1099933"/>
            </a:xfrm>
            <a:prstGeom prst="straightConnector1">
              <a:avLst/>
            </a:prstGeom>
            <a:ln w="28575">
              <a:solidFill>
                <a:srgbClr val="92D050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B80849DD-DA28-6AD7-0BEB-A1FAC6A4D7CF}"/>
                </a:ext>
              </a:extLst>
            </p:cNvPr>
            <p:cNvCxnSpPr>
              <a:cxnSpLocks/>
            </p:cNvCxnSpPr>
            <p:nvPr/>
          </p:nvCxnSpPr>
          <p:spPr>
            <a:xfrm>
              <a:off x="4492733" y="3372581"/>
              <a:ext cx="373139" cy="1000590"/>
            </a:xfrm>
            <a:prstGeom prst="straightConnector1">
              <a:avLst/>
            </a:prstGeom>
            <a:ln w="28575">
              <a:solidFill>
                <a:srgbClr val="92D050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D32E0053-43C6-AA00-8106-438CECFE97DA}"/>
                </a:ext>
              </a:extLst>
            </p:cNvPr>
            <p:cNvCxnSpPr>
              <a:cxnSpLocks/>
            </p:cNvCxnSpPr>
            <p:nvPr/>
          </p:nvCxnSpPr>
          <p:spPr>
            <a:xfrm>
              <a:off x="4998779" y="3322910"/>
              <a:ext cx="579019" cy="963763"/>
            </a:xfrm>
            <a:prstGeom prst="straightConnector1">
              <a:avLst/>
            </a:prstGeom>
            <a:ln w="28575">
              <a:solidFill>
                <a:srgbClr val="92D050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B51E425A-7BC6-7CAD-A0B0-3A5259E3E9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99191" y="3387730"/>
              <a:ext cx="407972" cy="956683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6C94B1EF-7605-77EB-4A80-6DA9741506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09935" y="3387730"/>
              <a:ext cx="330583" cy="1077239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8E2C482C-72F2-C8BB-D756-72CF00A9CF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5989" y="3388607"/>
              <a:ext cx="197866" cy="1117161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0" name="Picture 109">
            <a:extLst>
              <a:ext uri="{FF2B5EF4-FFF2-40B4-BE49-F238E27FC236}">
                <a16:creationId xmlns:a16="http://schemas.microsoft.com/office/drawing/2014/main" id="{5EA01FD2-7695-45A2-A542-FEBDBCD9E3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99" t="12838" r="8613" b="6278"/>
          <a:stretch>
            <a:fillRect/>
          </a:stretch>
        </p:blipFill>
        <p:spPr>
          <a:xfrm>
            <a:off x="11206870" y="5212471"/>
            <a:ext cx="749627" cy="7496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EA02D6-9D88-69F9-601E-D2483F4F5B9A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74121" y="6151095"/>
            <a:ext cx="944338" cy="636425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75316AF-FA24-3ABD-EC9F-C1700C90B435}"/>
              </a:ext>
            </a:extLst>
          </p:cNvPr>
          <p:cNvCxnSpPr/>
          <p:nvPr/>
        </p:nvCxnSpPr>
        <p:spPr>
          <a:xfrm>
            <a:off x="-9832" y="6095995"/>
            <a:ext cx="12204000" cy="0"/>
          </a:xfrm>
          <a:prstGeom prst="line">
            <a:avLst/>
          </a:prstGeom>
          <a:ln w="28575">
            <a:solidFill>
              <a:srgbClr val="F47D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00901BA-0CB1-6E26-D613-D9F9838927F4}"/>
              </a:ext>
            </a:extLst>
          </p:cNvPr>
          <p:cNvGrpSpPr/>
          <p:nvPr/>
        </p:nvGrpSpPr>
        <p:grpSpPr>
          <a:xfrm>
            <a:off x="185602" y="263333"/>
            <a:ext cx="5083564" cy="523220"/>
            <a:chOff x="443437" y="420976"/>
            <a:chExt cx="7833928" cy="52322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2113BF0-0725-B0D6-5EC7-F5F0115204BF}"/>
                </a:ext>
              </a:extLst>
            </p:cNvPr>
            <p:cNvSpPr txBox="1"/>
            <p:nvPr/>
          </p:nvSpPr>
          <p:spPr>
            <a:xfrm>
              <a:off x="443437" y="420976"/>
              <a:ext cx="783392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800" b="1" dirty="0">
                  <a:solidFill>
                    <a:srgbClr val="1E3750"/>
                  </a:solidFill>
                </a:rPr>
                <a:t>KEY VASTU </a:t>
              </a:r>
              <a:r>
                <a:rPr lang="en-IN" sz="2800" dirty="0">
                  <a:solidFill>
                    <a:srgbClr val="1E3750"/>
                  </a:solidFill>
                </a:rPr>
                <a:t>CONSIDERATIONS 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73DF43F-6E26-7591-AD50-2ECA9416E257}"/>
                </a:ext>
              </a:extLst>
            </p:cNvPr>
            <p:cNvCxnSpPr>
              <a:cxnSpLocks/>
            </p:cNvCxnSpPr>
            <p:nvPr/>
          </p:nvCxnSpPr>
          <p:spPr>
            <a:xfrm>
              <a:off x="562155" y="939276"/>
              <a:ext cx="1371600" cy="0"/>
            </a:xfrm>
            <a:prstGeom prst="line">
              <a:avLst/>
            </a:prstGeom>
            <a:ln w="57150">
              <a:solidFill>
                <a:srgbClr val="F47D3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0E36DFFD-41C6-AE2B-762C-897BD74561D3}"/>
              </a:ext>
            </a:extLst>
          </p:cNvPr>
          <p:cNvSpPr txBox="1"/>
          <p:nvPr/>
        </p:nvSpPr>
        <p:spPr>
          <a:xfrm>
            <a:off x="5075702" y="6229918"/>
            <a:ext cx="2032929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rPr lang="en-US" sz="1100" dirty="0"/>
              <a:t>SATISH GUPTA &amp; YASH GUPTA</a:t>
            </a:r>
          </a:p>
          <a:p>
            <a:pPr algn="ctr">
              <a:defRPr sz="1600"/>
            </a:pPr>
            <a:r>
              <a:rPr lang="en-US" sz="1100" dirty="0"/>
              <a:t>(VASTU CONSULTANTS)</a:t>
            </a:r>
            <a:endParaRPr sz="11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670A28-990B-EC99-753C-EC18BB5C9DF6}"/>
              </a:ext>
            </a:extLst>
          </p:cNvPr>
          <p:cNvSpPr txBox="1"/>
          <p:nvPr/>
        </p:nvSpPr>
        <p:spPr>
          <a:xfrm>
            <a:off x="10778366" y="186497"/>
            <a:ext cx="8750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1" dirty="0">
                <a:solidFill>
                  <a:srgbClr val="000C39"/>
                </a:solidFill>
              </a:rPr>
              <a:t>PROJECT:</a:t>
            </a:r>
          </a:p>
          <a:p>
            <a:r>
              <a:rPr lang="en-IN" sz="900" dirty="0">
                <a:solidFill>
                  <a:srgbClr val="F47D35"/>
                </a:solidFill>
              </a:rPr>
              <a:t>Head Office, </a:t>
            </a:r>
            <a:r>
              <a:rPr lang="en-IN" sz="900" dirty="0" err="1">
                <a:solidFill>
                  <a:srgbClr val="F47D35"/>
                </a:solidFill>
              </a:rPr>
              <a:t>Guttahalli</a:t>
            </a:r>
            <a:endParaRPr lang="en-US" sz="900" dirty="0">
              <a:solidFill>
                <a:srgbClr val="F47D35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272464B-3C82-8AA7-3E62-8AE59EEFB349}"/>
              </a:ext>
            </a:extLst>
          </p:cNvPr>
          <p:cNvCxnSpPr>
            <a:cxnSpLocks/>
          </p:cNvCxnSpPr>
          <p:nvPr/>
        </p:nvCxnSpPr>
        <p:spPr>
          <a:xfrm>
            <a:off x="11607870" y="226217"/>
            <a:ext cx="0" cy="468000"/>
          </a:xfrm>
          <a:prstGeom prst="line">
            <a:avLst/>
          </a:prstGeom>
          <a:ln w="12700">
            <a:solidFill>
              <a:srgbClr val="F47D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46">
            <a:extLst>
              <a:ext uri="{FF2B5EF4-FFF2-40B4-BE49-F238E27FC236}">
                <a16:creationId xmlns:a16="http://schemas.microsoft.com/office/drawing/2014/main" id="{A4482578-BF65-D937-8AC5-13FB830AB9B9}"/>
              </a:ext>
            </a:extLst>
          </p:cNvPr>
          <p:cNvSpPr txBox="1">
            <a:spLocks/>
          </p:cNvSpPr>
          <p:nvPr/>
        </p:nvSpPr>
        <p:spPr>
          <a:xfrm>
            <a:off x="11581684" y="265545"/>
            <a:ext cx="4661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rgbClr val="F47D35"/>
                </a:solidFill>
              </a:rPr>
              <a:t>0</a:t>
            </a:r>
            <a:fld id="{B33E2CC4-F11D-4E54-86EA-E05F33837D9B}" type="slidenum">
              <a:rPr lang="en-US" sz="2000" smtClean="0">
                <a:solidFill>
                  <a:srgbClr val="F47D35"/>
                </a:solidFill>
              </a:rPr>
              <a:pPr algn="ctr"/>
              <a:t>3</a:t>
            </a:fld>
            <a:endParaRPr lang="en-US" sz="2000" dirty="0">
              <a:solidFill>
                <a:srgbClr val="F47D35"/>
              </a:solidFill>
            </a:endParaRPr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F1CDFCA7-04B2-4C16-B5DB-518CFDB32EDD}"/>
              </a:ext>
            </a:extLst>
          </p:cNvPr>
          <p:cNvGrpSpPr/>
          <p:nvPr/>
        </p:nvGrpSpPr>
        <p:grpSpPr>
          <a:xfrm>
            <a:off x="293268" y="1788009"/>
            <a:ext cx="5204672" cy="2755500"/>
            <a:chOff x="360002" y="1597669"/>
            <a:chExt cx="5204672" cy="275550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FD713E4-49A3-EB25-FBF0-04C497D19A85}"/>
                </a:ext>
              </a:extLst>
            </p:cNvPr>
            <p:cNvSpPr txBox="1"/>
            <p:nvPr/>
          </p:nvSpPr>
          <p:spPr>
            <a:xfrm>
              <a:off x="577875" y="2071519"/>
              <a:ext cx="4986799" cy="22816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1200" dirty="0"/>
                <a:t>During the site visit, it was observed that the </a:t>
              </a:r>
              <a:r>
                <a:rPr lang="en-IN" sz="1200" b="1" dirty="0"/>
                <a:t>floor tiling</a:t>
              </a:r>
              <a:r>
                <a:rPr lang="en-IN" sz="1200" dirty="0"/>
                <a:t> on </a:t>
              </a:r>
              <a:r>
                <a:rPr lang="en-IN" sz="1200" b="1" dirty="0"/>
                <a:t>all levels</a:t>
              </a:r>
              <a:r>
                <a:rPr lang="en-IN" sz="1200" dirty="0"/>
                <a:t> is being laid in the </a:t>
              </a:r>
              <a:r>
                <a:rPr lang="en-IN" sz="1200" b="1" dirty="0"/>
                <a:t>reverse direction</a:t>
              </a:r>
              <a:r>
                <a:rPr lang="en-IN" sz="1200" dirty="0"/>
                <a:t> as per </a:t>
              </a:r>
              <a:r>
                <a:rPr lang="en-IN" sz="1200" b="1" dirty="0"/>
                <a:t>Vastu principles</a:t>
              </a:r>
              <a:r>
                <a:rPr lang="en-IN" sz="1200" dirty="0"/>
                <a:t>. Currently, the </a:t>
              </a:r>
              <a:r>
                <a:rPr lang="en-IN" sz="1200" b="1" dirty="0"/>
                <a:t>tile installation</a:t>
              </a:r>
              <a:r>
                <a:rPr lang="en-IN" sz="1200" dirty="0"/>
                <a:t> is progressing from the </a:t>
              </a:r>
              <a:r>
                <a:rPr lang="en-IN" sz="1200" b="1" dirty="0"/>
                <a:t>North-East</a:t>
              </a:r>
              <a:r>
                <a:rPr lang="en-IN" sz="1200" dirty="0"/>
                <a:t> towards the </a:t>
              </a:r>
              <a:r>
                <a:rPr lang="en-IN" sz="1200" b="1" dirty="0"/>
                <a:t>South-West</a:t>
              </a:r>
              <a:r>
                <a:rPr lang="en-IN" sz="1200" dirty="0"/>
                <a:t>, which is </a:t>
              </a:r>
              <a:r>
                <a:rPr lang="en-IN" sz="1200" b="1" dirty="0"/>
                <a:t>not recommended</a:t>
              </a:r>
              <a:r>
                <a:rPr lang="en-IN" sz="1200" dirty="0"/>
                <a:t> as it may create </a:t>
              </a:r>
              <a:r>
                <a:rPr lang="en-IN" sz="1200" b="1" dirty="0"/>
                <a:t>obstacles and delays</a:t>
              </a:r>
              <a:r>
                <a:rPr lang="en-IN" sz="1200" dirty="0"/>
                <a:t> in the </a:t>
              </a:r>
              <a:r>
                <a:rPr lang="en-IN" sz="1200" b="1" dirty="0"/>
                <a:t>smooth and timely completion</a:t>
              </a:r>
              <a:r>
                <a:rPr lang="en-IN" sz="1200" dirty="0"/>
                <a:t> of the project. It is advised that the </a:t>
              </a:r>
              <a:r>
                <a:rPr lang="en-IN" sz="1200" b="1" dirty="0"/>
                <a:t>tile laying</a:t>
              </a:r>
              <a:r>
                <a:rPr lang="en-IN" sz="1200" dirty="0"/>
                <a:t> should be carried out from the </a:t>
              </a:r>
              <a:r>
                <a:rPr lang="en-IN" sz="1200" b="1" dirty="0"/>
                <a:t>South-West</a:t>
              </a:r>
              <a:r>
                <a:rPr lang="en-IN" sz="1200" dirty="0"/>
                <a:t> towards the </a:t>
              </a:r>
              <a:r>
                <a:rPr lang="en-IN" sz="1200" b="1" dirty="0"/>
                <a:t>North-East</a:t>
              </a:r>
              <a:r>
                <a:rPr lang="en-IN" sz="1200" dirty="0"/>
                <a:t> in accordance with </a:t>
              </a:r>
              <a:r>
                <a:rPr lang="en-IN" sz="1200" b="1" dirty="0"/>
                <a:t>Vastu</a:t>
              </a:r>
              <a:r>
                <a:rPr lang="en-IN" sz="1200" dirty="0"/>
                <a:t>.</a:t>
              </a:r>
            </a:p>
          </p:txBody>
        </p:sp>
        <p:pic>
          <p:nvPicPr>
            <p:cNvPr id="115" name="Picture 114">
              <a:extLst>
                <a:ext uri="{FF2B5EF4-FFF2-40B4-BE49-F238E27FC236}">
                  <a16:creationId xmlns:a16="http://schemas.microsoft.com/office/drawing/2014/main" id="{1ED93CCF-B460-1032-9874-71695366DE1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88" t="30829" r="-1" b="35154"/>
            <a:stretch>
              <a:fillRect/>
            </a:stretch>
          </p:blipFill>
          <p:spPr>
            <a:xfrm>
              <a:off x="360002" y="1597669"/>
              <a:ext cx="4064514" cy="473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81491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4012</TotalTime>
  <Words>379</Words>
  <Application>Microsoft Office PowerPoint</Application>
  <PresentationFormat>Widescreen</PresentationFormat>
  <Paragraphs>54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Artifakt Element Hair</vt:lpstr>
      <vt:lpstr>Biome</vt:lpstr>
      <vt:lpstr>Candara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Charu Koushal</dc:creator>
  <cp:lastModifiedBy>Alisha Massey</cp:lastModifiedBy>
  <cp:revision>755</cp:revision>
  <dcterms:created xsi:type="dcterms:W3CDTF">2026-03-10T05:09:11Z</dcterms:created>
  <dcterms:modified xsi:type="dcterms:W3CDTF">2026-07-01T09:30:23Z</dcterms:modified>
</cp:coreProperties>
</file>